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47" d="100"/>
          <a:sy n="47" d="100"/>
        </p:scale>
        <p:origin x="53" y="1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243C7-1B4C-4742-847F-6301E765640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D68BD-39F2-47CD-82E7-C30C3CD053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742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243C7-1B4C-4742-847F-6301E765640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D68BD-39F2-47CD-82E7-C30C3CD053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1539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243C7-1B4C-4742-847F-6301E765640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D68BD-39F2-47CD-82E7-C30C3CD053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8890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243C7-1B4C-4742-847F-6301E765640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D68BD-39F2-47CD-82E7-C30C3CD053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795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243C7-1B4C-4742-847F-6301E765640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D68BD-39F2-47CD-82E7-C30C3CD053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9710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243C7-1B4C-4742-847F-6301E765640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D68BD-39F2-47CD-82E7-C30C3CD053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2244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243C7-1B4C-4742-847F-6301E765640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D68BD-39F2-47CD-82E7-C30C3CD053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5922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243C7-1B4C-4742-847F-6301E765640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D68BD-39F2-47CD-82E7-C30C3CD053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9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243C7-1B4C-4742-847F-6301E765640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D68BD-39F2-47CD-82E7-C30C3CD053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7851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243C7-1B4C-4742-847F-6301E765640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D68BD-39F2-47CD-82E7-C30C3CD053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5661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243C7-1B4C-4742-847F-6301E765640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D68BD-39F2-47CD-82E7-C30C3CD0531D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89326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243C7-1B4C-4742-847F-6301E765640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D68BD-39F2-47CD-82E7-C30C3CD053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48755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243C7-1B4C-4742-847F-6301E765640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D68BD-39F2-47CD-82E7-C30C3CD0531D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796949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243C7-1B4C-4742-847F-6301E765640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D68BD-39F2-47CD-82E7-C30C3CD053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24390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243C7-1B4C-4742-847F-6301E765640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D68BD-39F2-47CD-82E7-C30C3CD053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29662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243C7-1B4C-4742-847F-6301E765640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D68BD-39F2-47CD-82E7-C30C3CD053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3776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243C7-1B4C-4742-847F-6301E765640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57D68BD-39F2-47CD-82E7-C30C3CD053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9223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3669A4-33F1-4B72-B9C9-2AFC27A6FF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Лабораторная 1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A8B3E7D-9E48-430A-A9D1-DA49A907B1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Преобразование </a:t>
            </a:r>
            <a:r>
              <a:rPr lang="ru-RU" dirty="0" err="1"/>
              <a:t>датасета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3744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2BF393-8AE9-4531-B302-509378D0E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Выполненные преобразования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1DD6E2-59B7-45A4-8831-FE84B1468BE9}"/>
              </a:ext>
            </a:extLst>
          </p:cNvPr>
          <p:cNvSpPr txBox="1"/>
          <p:nvPr/>
        </p:nvSpPr>
        <p:spPr>
          <a:xfrm>
            <a:off x="838200" y="1963971"/>
            <a:ext cx="1081841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1) ПРЕПРОЦЕССИНГ ДАННЫХ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Проверка на пропуски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Проверка на дубликаты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r>
              <a:rPr lang="ru-RU" b="1" dirty="0"/>
              <a:t>2) КОРРЕЛЯЦИОННЫЙ АНАЛИЗ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Построена тепловая матрица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r>
              <a:rPr lang="ru-RU" b="1" dirty="0"/>
              <a:t>3) ПОДГОТОВКА К РАСЧЕТУ </a:t>
            </a:r>
            <a:r>
              <a:rPr lang="en-US" b="1" dirty="0"/>
              <a:t>GAIN RATIO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Непрерывные признаки дискретизированы на 5 интервалов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Целевая переменная разделена на 3 класса(</a:t>
            </a:r>
            <a:r>
              <a:rPr lang="en-US" dirty="0" err="1"/>
              <a:t>low,medium,high</a:t>
            </a:r>
            <a:r>
              <a:rPr lang="ru-RU" dirty="0"/>
              <a:t>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Категориальные признаки закодированы вручную</a:t>
            </a:r>
          </a:p>
        </p:txBody>
      </p:sp>
    </p:spTree>
    <p:extLst>
      <p:ext uri="{BB962C8B-B14F-4D97-AF65-F5344CB8AC3E}">
        <p14:creationId xmlns:p14="http://schemas.microsoft.com/office/powerpoint/2010/main" val="2446019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2C03BC-06C1-4138-B4E5-1505A1EF4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Формат данных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FE60D68-77D4-4965-B18C-E73DEB652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39" y="1477068"/>
            <a:ext cx="5789839" cy="201172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5B7F9BD-0F78-4243-9DB9-685FAEDD4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539" y="4017421"/>
            <a:ext cx="7878274" cy="20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587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B30D29-DB19-405B-A965-F7E3AE2C6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127143" cy="1325563"/>
          </a:xfrm>
        </p:spPr>
        <p:txBody>
          <a:bodyPr/>
          <a:lstStyle/>
          <a:p>
            <a:r>
              <a:rPr lang="ru-RU" dirty="0"/>
              <a:t>Полученные результаты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D7BECBB-0CE3-4B79-ACF7-906BBE7C8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4459"/>
            <a:ext cx="5539906" cy="443192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874516A-3C14-4942-A871-261B9D069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9906" y="1884459"/>
            <a:ext cx="6202301" cy="3618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674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FFD939-787B-4245-AD63-90919279D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Формулы для расчетов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D352D57-5492-4692-AFFD-2E2822CD4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71" y="1374856"/>
            <a:ext cx="6339378" cy="139219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D7B4C7A-B452-49B2-ABDE-83FF65714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69" y="3044936"/>
            <a:ext cx="7651731" cy="188266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B10CA0C-820F-4461-BC93-89176EF0A2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31" y="5343675"/>
            <a:ext cx="6944405" cy="126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471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99225E-498E-4386-886C-BD00456A4C96}"/>
              </a:ext>
            </a:extLst>
          </p:cNvPr>
          <p:cNvSpPr txBox="1"/>
          <p:nvPr/>
        </p:nvSpPr>
        <p:spPr>
          <a:xfrm>
            <a:off x="127222" y="278296"/>
            <a:ext cx="9550144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u="sng" dirty="0"/>
              <a:t>Энтропия</a:t>
            </a:r>
            <a:r>
              <a:rPr lang="ru-RU" dirty="0"/>
              <a:t> — это мера </a:t>
            </a:r>
            <a:r>
              <a:rPr lang="ru-RU" b="1" dirty="0"/>
              <a:t>неопределенности</a:t>
            </a:r>
            <a:r>
              <a:rPr lang="ru-RU" dirty="0"/>
              <a:t> или </a:t>
            </a:r>
            <a:r>
              <a:rPr lang="ru-RU" b="1" dirty="0"/>
              <a:t>беспорядка</a:t>
            </a:r>
            <a:r>
              <a:rPr lang="ru-RU" dirty="0"/>
              <a:t> в данных. Показывает, насколько сильно перемешаны объекты разных классов.</a:t>
            </a:r>
          </a:p>
          <a:p>
            <a:endParaRPr lang="ru-RU" dirty="0"/>
          </a:p>
          <a:p>
            <a:endParaRPr lang="ru-RU" dirty="0"/>
          </a:p>
          <a:p>
            <a:r>
              <a:rPr lang="ru-RU" b="1" u="sng" dirty="0"/>
              <a:t>Information </a:t>
            </a:r>
            <a:r>
              <a:rPr lang="ru-RU" b="1" u="sng" dirty="0" err="1"/>
              <a:t>Gain</a:t>
            </a:r>
            <a:r>
              <a:rPr lang="ru-RU" b="1" u="sng" dirty="0"/>
              <a:t> (IG) </a:t>
            </a:r>
            <a:r>
              <a:rPr lang="ru-RU" dirty="0"/>
              <a:t>— это </a:t>
            </a:r>
            <a:r>
              <a:rPr lang="ru-RU" b="1" dirty="0"/>
              <a:t>уменьшение энтропии</a:t>
            </a:r>
            <a:r>
              <a:rPr lang="ru-RU" dirty="0"/>
              <a:t> целевой переменной после того, как мы разделили данные по значениям некоторого признака. Показывает, </a:t>
            </a:r>
            <a:r>
              <a:rPr lang="ru-RU" b="1" dirty="0"/>
              <a:t>сколько информации о целевой переменной мы получили, узнав значение признака</a:t>
            </a:r>
            <a:r>
              <a:rPr lang="ru-RU" dirty="0"/>
              <a:t>.</a:t>
            </a:r>
          </a:p>
          <a:p>
            <a:endParaRPr lang="ru-RU" dirty="0"/>
          </a:p>
          <a:p>
            <a:endParaRPr lang="ru-RU" dirty="0"/>
          </a:p>
          <a:p>
            <a:r>
              <a:rPr lang="ru-RU" b="1" u="sng" dirty="0" err="1"/>
              <a:t>Split</a:t>
            </a:r>
            <a:r>
              <a:rPr lang="ru-RU" b="1" u="sng" dirty="0"/>
              <a:t> Info </a:t>
            </a:r>
            <a:r>
              <a:rPr lang="ru-RU" dirty="0"/>
              <a:t>— это </a:t>
            </a:r>
            <a:r>
              <a:rPr lang="ru-RU" b="1" dirty="0"/>
              <a:t>энтропия самого признака</a:t>
            </a:r>
            <a:r>
              <a:rPr lang="ru-RU" dirty="0"/>
              <a:t>. Показывает, насколько </a:t>
            </a:r>
            <a:r>
              <a:rPr lang="ru-RU" b="1" dirty="0"/>
              <a:t>разнообразны значения признака</a:t>
            </a:r>
            <a:r>
              <a:rPr lang="ru-RU" dirty="0"/>
              <a:t>, сколько в нем «ветвей». Используется для нормализации Information </a:t>
            </a:r>
            <a:r>
              <a:rPr lang="ru-RU" dirty="0" err="1"/>
              <a:t>Gain</a:t>
            </a:r>
            <a:r>
              <a:rPr lang="ru-RU" dirty="0"/>
              <a:t> в формуле </a:t>
            </a:r>
            <a:r>
              <a:rPr lang="ru-RU" dirty="0" err="1"/>
              <a:t>Gain</a:t>
            </a:r>
            <a:r>
              <a:rPr lang="ru-RU" dirty="0"/>
              <a:t> </a:t>
            </a:r>
            <a:r>
              <a:rPr lang="ru-RU" dirty="0" err="1"/>
              <a:t>Ratio</a:t>
            </a:r>
            <a:r>
              <a:rPr lang="ru-RU" dirty="0"/>
              <a:t>, чтобы наказать признаки с большим количеством значений.</a:t>
            </a:r>
          </a:p>
          <a:p>
            <a:endParaRPr lang="ru-RU" dirty="0"/>
          </a:p>
          <a:p>
            <a:r>
              <a:rPr lang="ru-RU" b="1" u="sng" dirty="0" err="1"/>
              <a:t>Gain</a:t>
            </a:r>
            <a:r>
              <a:rPr lang="ru-RU" b="1" u="sng" dirty="0"/>
              <a:t> </a:t>
            </a:r>
            <a:r>
              <a:rPr lang="ru-RU" b="1" u="sng" dirty="0" err="1"/>
              <a:t>Ratio</a:t>
            </a:r>
            <a:r>
              <a:rPr lang="ru-RU" b="1" u="sng" dirty="0"/>
              <a:t> </a:t>
            </a:r>
            <a:r>
              <a:rPr lang="ru-RU" dirty="0"/>
              <a:t>— это </a:t>
            </a:r>
            <a:r>
              <a:rPr lang="ru-RU" b="1" dirty="0"/>
              <a:t>нормализованная версия Information </a:t>
            </a:r>
            <a:r>
              <a:rPr lang="ru-RU" b="1" dirty="0" err="1"/>
              <a:t>Gain</a:t>
            </a:r>
            <a:r>
              <a:rPr lang="ru-RU" dirty="0"/>
              <a:t>, которая учитывает «ветвистость» признака. Получается делением IG на </a:t>
            </a:r>
            <a:r>
              <a:rPr lang="ru-RU" dirty="0" err="1"/>
              <a:t>Split</a:t>
            </a:r>
            <a:r>
              <a:rPr lang="ru-RU" dirty="0"/>
              <a:t> Info.</a:t>
            </a:r>
          </a:p>
          <a:p>
            <a:r>
              <a:rPr lang="ru-RU" b="1" dirty="0"/>
              <a:t>Что показывает: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Чем больше </a:t>
            </a:r>
            <a:r>
              <a:rPr lang="ru-RU" dirty="0" err="1"/>
              <a:t>Gain</a:t>
            </a:r>
            <a:r>
              <a:rPr lang="ru-RU" dirty="0"/>
              <a:t> </a:t>
            </a:r>
            <a:r>
              <a:rPr lang="ru-RU" dirty="0" err="1"/>
              <a:t>Ratio</a:t>
            </a:r>
            <a:r>
              <a:rPr lang="ru-RU" dirty="0"/>
              <a:t>, тем </a:t>
            </a:r>
            <a:r>
              <a:rPr lang="ru-RU" b="1" dirty="0"/>
              <a:t>важнее признак</a:t>
            </a:r>
            <a:r>
              <a:rPr lang="ru-RU" dirty="0"/>
              <a:t> с учетом его «ветвистости».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Исправляет недостаток IG, который «любит» признаки с большим количеством уникальных значений (например, ID).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Позволяет сравнивать признаки с разным количеством значений.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3143547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459</TotalTime>
  <Words>223</Words>
  <Application>Microsoft Office PowerPoint</Application>
  <PresentationFormat>Широкоэкранный</PresentationFormat>
  <Paragraphs>30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Аспект</vt:lpstr>
      <vt:lpstr>Лабораторная 1</vt:lpstr>
      <vt:lpstr>Выполненные преобразования</vt:lpstr>
      <vt:lpstr>Формат данных</vt:lpstr>
      <vt:lpstr>Полученные результаты</vt:lpstr>
      <vt:lpstr>Формулы для расчетов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1</dc:title>
  <dc:creator>Зималтынов</dc:creator>
  <cp:lastModifiedBy>Зималтынов</cp:lastModifiedBy>
  <cp:revision>7</cp:revision>
  <dcterms:created xsi:type="dcterms:W3CDTF">2026-02-17T02:18:45Z</dcterms:created>
  <dcterms:modified xsi:type="dcterms:W3CDTF">2026-02-17T09:58:39Z</dcterms:modified>
</cp:coreProperties>
</file>